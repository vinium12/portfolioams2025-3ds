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60" r:id="rId5"/>
  </p:sldIdLst>
  <p:sldSz cx="32399288" cy="43200638"/>
  <p:notesSz cx="6858000" cy="9144000"/>
  <p:defaultTextStyle>
    <a:defPPr>
      <a:defRPr lang="pt-BR"/>
    </a:defPPr>
    <a:lvl1pPr marL="0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1pPr>
    <a:lvl2pPr marL="1814398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2pPr>
    <a:lvl3pPr marL="3628796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3pPr>
    <a:lvl4pPr marL="5443195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4pPr>
    <a:lvl5pPr marL="7257593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5pPr>
    <a:lvl6pPr marL="9071991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6pPr>
    <a:lvl7pPr marL="10886389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7pPr>
    <a:lvl8pPr marL="12700787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8pPr>
    <a:lvl9pPr marL="14515186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606">
          <p15:clr>
            <a:srgbClr val="A4A3A4"/>
          </p15:clr>
        </p15:guide>
        <p15:guide id="2" pos="1020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0300"/>
    <a:srgbClr val="FF5757"/>
    <a:srgbClr val="FF3030"/>
    <a:srgbClr val="004AAD"/>
    <a:srgbClr val="37B6FF"/>
    <a:srgbClr val="8C52FF"/>
    <a:srgbClr val="FF65C3"/>
    <a:srgbClr val="41719C"/>
    <a:srgbClr val="000099"/>
    <a:srgbClr val="1029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849" autoAdjust="0"/>
    <p:restoredTop sz="94660"/>
  </p:normalViewPr>
  <p:slideViewPr>
    <p:cSldViewPr snapToGrid="0">
      <p:cViewPr>
        <p:scale>
          <a:sx n="25" d="100"/>
          <a:sy n="25" d="100"/>
        </p:scale>
        <p:origin x="96" y="-2154"/>
      </p:cViewPr>
      <p:guideLst>
        <p:guide orient="horz" pos="13606"/>
        <p:guide pos="1020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9947" y="7070108"/>
            <a:ext cx="27539395" cy="15040222"/>
          </a:xfrm>
        </p:spPr>
        <p:txBody>
          <a:bodyPr anchor="b"/>
          <a:lstStyle>
            <a:lvl1pPr algn="ctr">
              <a:defRPr sz="2125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49911" y="22690338"/>
            <a:ext cx="24299466" cy="10430151"/>
          </a:xfrm>
        </p:spPr>
        <p:txBody>
          <a:bodyPr/>
          <a:lstStyle>
            <a:lvl1pPr marL="0" indent="0" algn="ctr">
              <a:buNone/>
              <a:defRPr sz="8504"/>
            </a:lvl1pPr>
            <a:lvl2pPr marL="1619951" indent="0" algn="ctr">
              <a:buNone/>
              <a:defRPr sz="7086"/>
            </a:lvl2pPr>
            <a:lvl3pPr marL="3239902" indent="0" algn="ctr">
              <a:buNone/>
              <a:defRPr sz="6378"/>
            </a:lvl3pPr>
            <a:lvl4pPr marL="4859853" indent="0" algn="ctr">
              <a:buNone/>
              <a:defRPr sz="5669"/>
            </a:lvl4pPr>
            <a:lvl5pPr marL="6479804" indent="0" algn="ctr">
              <a:buNone/>
              <a:defRPr sz="5669"/>
            </a:lvl5pPr>
            <a:lvl6pPr marL="8099755" indent="0" algn="ctr">
              <a:buNone/>
              <a:defRPr sz="5669"/>
            </a:lvl6pPr>
            <a:lvl7pPr marL="9719706" indent="0" algn="ctr">
              <a:buNone/>
              <a:defRPr sz="5669"/>
            </a:lvl7pPr>
            <a:lvl8pPr marL="11339657" indent="0" algn="ctr">
              <a:buNone/>
              <a:defRPr sz="5669"/>
            </a:lvl8pPr>
            <a:lvl9pPr marL="12959608" indent="0" algn="ctr">
              <a:buNone/>
              <a:defRPr sz="5669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793FE-9174-4BCA-8FC1-2C151984D1DA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2CB0-136A-46C6-A53C-3315DE620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3974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793FE-9174-4BCA-8FC1-2C151984D1DA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2CB0-136A-46C6-A53C-3315DE620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1757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0578" y="10770172"/>
            <a:ext cx="27944386" cy="17970262"/>
          </a:xfrm>
        </p:spPr>
        <p:txBody>
          <a:bodyPr anchor="b"/>
          <a:lstStyle>
            <a:lvl1pPr>
              <a:defRPr sz="2125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10578" y="28910440"/>
            <a:ext cx="27944386" cy="9450136"/>
          </a:xfrm>
        </p:spPr>
        <p:txBody>
          <a:bodyPr/>
          <a:lstStyle>
            <a:lvl1pPr marL="0" indent="0">
              <a:buNone/>
              <a:defRPr sz="8504">
                <a:solidFill>
                  <a:schemeClr val="tx1"/>
                </a:solidFill>
              </a:defRPr>
            </a:lvl1pPr>
            <a:lvl2pPr marL="1619951" indent="0">
              <a:buNone/>
              <a:defRPr sz="7086">
                <a:solidFill>
                  <a:schemeClr val="tx1">
                    <a:tint val="75000"/>
                  </a:schemeClr>
                </a:solidFill>
              </a:defRPr>
            </a:lvl2pPr>
            <a:lvl3pPr marL="3239902" indent="0">
              <a:buNone/>
              <a:defRPr sz="6378">
                <a:solidFill>
                  <a:schemeClr val="tx1">
                    <a:tint val="75000"/>
                  </a:schemeClr>
                </a:solidFill>
              </a:defRPr>
            </a:lvl3pPr>
            <a:lvl4pPr marL="4859853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4pPr>
            <a:lvl5pPr marL="6479804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5pPr>
            <a:lvl6pPr marL="8099755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6pPr>
            <a:lvl7pPr marL="9719706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7pPr>
            <a:lvl8pPr marL="11339657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8pPr>
            <a:lvl9pPr marL="12959608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793FE-9174-4BCA-8FC1-2C151984D1DA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2CB0-136A-46C6-A53C-3315DE620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7183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27451" y="11500170"/>
            <a:ext cx="13769697" cy="2741040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02140" y="11500170"/>
            <a:ext cx="13769697" cy="2741040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793FE-9174-4BCA-8FC1-2C151984D1DA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2CB0-136A-46C6-A53C-3315DE620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3512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300044"/>
            <a:ext cx="27944386" cy="8350126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675" y="10590160"/>
            <a:ext cx="13706415" cy="5190073"/>
          </a:xfrm>
        </p:spPr>
        <p:txBody>
          <a:bodyPr anchor="b"/>
          <a:lstStyle>
            <a:lvl1pPr marL="0" indent="0">
              <a:buNone/>
              <a:defRPr sz="8504" b="1"/>
            </a:lvl1pPr>
            <a:lvl2pPr marL="1619951" indent="0">
              <a:buNone/>
              <a:defRPr sz="7086" b="1"/>
            </a:lvl2pPr>
            <a:lvl3pPr marL="3239902" indent="0">
              <a:buNone/>
              <a:defRPr sz="6378" b="1"/>
            </a:lvl3pPr>
            <a:lvl4pPr marL="4859853" indent="0">
              <a:buNone/>
              <a:defRPr sz="5669" b="1"/>
            </a:lvl4pPr>
            <a:lvl5pPr marL="6479804" indent="0">
              <a:buNone/>
              <a:defRPr sz="5669" b="1"/>
            </a:lvl5pPr>
            <a:lvl6pPr marL="8099755" indent="0">
              <a:buNone/>
              <a:defRPr sz="5669" b="1"/>
            </a:lvl6pPr>
            <a:lvl7pPr marL="9719706" indent="0">
              <a:buNone/>
              <a:defRPr sz="5669" b="1"/>
            </a:lvl7pPr>
            <a:lvl8pPr marL="11339657" indent="0">
              <a:buNone/>
              <a:defRPr sz="5669" b="1"/>
            </a:lvl8pPr>
            <a:lvl9pPr marL="12959608" indent="0">
              <a:buNone/>
              <a:defRPr sz="5669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31675" y="15780233"/>
            <a:ext cx="13706415" cy="23210346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402142" y="10590160"/>
            <a:ext cx="13773917" cy="5190073"/>
          </a:xfrm>
        </p:spPr>
        <p:txBody>
          <a:bodyPr anchor="b"/>
          <a:lstStyle>
            <a:lvl1pPr marL="0" indent="0">
              <a:buNone/>
              <a:defRPr sz="8504" b="1"/>
            </a:lvl1pPr>
            <a:lvl2pPr marL="1619951" indent="0">
              <a:buNone/>
              <a:defRPr sz="7086" b="1"/>
            </a:lvl2pPr>
            <a:lvl3pPr marL="3239902" indent="0">
              <a:buNone/>
              <a:defRPr sz="6378" b="1"/>
            </a:lvl3pPr>
            <a:lvl4pPr marL="4859853" indent="0">
              <a:buNone/>
              <a:defRPr sz="5669" b="1"/>
            </a:lvl4pPr>
            <a:lvl5pPr marL="6479804" indent="0">
              <a:buNone/>
              <a:defRPr sz="5669" b="1"/>
            </a:lvl5pPr>
            <a:lvl6pPr marL="8099755" indent="0">
              <a:buNone/>
              <a:defRPr sz="5669" b="1"/>
            </a:lvl6pPr>
            <a:lvl7pPr marL="9719706" indent="0">
              <a:buNone/>
              <a:defRPr sz="5669" b="1"/>
            </a:lvl7pPr>
            <a:lvl8pPr marL="11339657" indent="0">
              <a:buNone/>
              <a:defRPr sz="5669" b="1"/>
            </a:lvl8pPr>
            <a:lvl9pPr marL="12959608" indent="0">
              <a:buNone/>
              <a:defRPr sz="5669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402142" y="15780233"/>
            <a:ext cx="13773917" cy="23210346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793FE-9174-4BCA-8FC1-2C151984D1DA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2CB0-136A-46C6-A53C-3315DE620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5750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793FE-9174-4BCA-8FC1-2C151984D1DA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2CB0-136A-46C6-A53C-3315DE620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4814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793FE-9174-4BCA-8FC1-2C151984D1DA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2CB0-136A-46C6-A53C-3315DE620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9522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880042"/>
            <a:ext cx="10449614" cy="10080149"/>
          </a:xfrm>
        </p:spPr>
        <p:txBody>
          <a:bodyPr anchor="b"/>
          <a:lstStyle>
            <a:lvl1pPr>
              <a:defRPr sz="1133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73917" y="6220102"/>
            <a:ext cx="16402140" cy="30700453"/>
          </a:xfrm>
        </p:spPr>
        <p:txBody>
          <a:bodyPr/>
          <a:lstStyle>
            <a:lvl1pPr>
              <a:defRPr sz="11338"/>
            </a:lvl1pPr>
            <a:lvl2pPr>
              <a:defRPr sz="9921"/>
            </a:lvl2pPr>
            <a:lvl3pPr>
              <a:defRPr sz="8504"/>
            </a:lvl3pPr>
            <a:lvl4pPr>
              <a:defRPr sz="7086"/>
            </a:lvl4pPr>
            <a:lvl5pPr>
              <a:defRPr sz="7086"/>
            </a:lvl5pPr>
            <a:lvl6pPr>
              <a:defRPr sz="7086"/>
            </a:lvl6pPr>
            <a:lvl7pPr>
              <a:defRPr sz="7086"/>
            </a:lvl7pPr>
            <a:lvl8pPr>
              <a:defRPr sz="7086"/>
            </a:lvl8pPr>
            <a:lvl9pPr>
              <a:defRPr sz="7086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671" y="12960191"/>
            <a:ext cx="10449614" cy="24010358"/>
          </a:xfrm>
        </p:spPr>
        <p:txBody>
          <a:bodyPr/>
          <a:lstStyle>
            <a:lvl1pPr marL="0" indent="0">
              <a:buNone/>
              <a:defRPr sz="5669"/>
            </a:lvl1pPr>
            <a:lvl2pPr marL="1619951" indent="0">
              <a:buNone/>
              <a:defRPr sz="4960"/>
            </a:lvl2pPr>
            <a:lvl3pPr marL="3239902" indent="0">
              <a:buNone/>
              <a:defRPr sz="4252"/>
            </a:lvl3pPr>
            <a:lvl4pPr marL="4859853" indent="0">
              <a:buNone/>
              <a:defRPr sz="3543"/>
            </a:lvl4pPr>
            <a:lvl5pPr marL="6479804" indent="0">
              <a:buNone/>
              <a:defRPr sz="3543"/>
            </a:lvl5pPr>
            <a:lvl6pPr marL="8099755" indent="0">
              <a:buNone/>
              <a:defRPr sz="3543"/>
            </a:lvl6pPr>
            <a:lvl7pPr marL="9719706" indent="0">
              <a:buNone/>
              <a:defRPr sz="3543"/>
            </a:lvl7pPr>
            <a:lvl8pPr marL="11339657" indent="0">
              <a:buNone/>
              <a:defRPr sz="3543"/>
            </a:lvl8pPr>
            <a:lvl9pPr marL="12959608" indent="0">
              <a:buNone/>
              <a:defRPr sz="3543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793FE-9174-4BCA-8FC1-2C151984D1DA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2CB0-136A-46C6-A53C-3315DE620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6923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880042"/>
            <a:ext cx="10449614" cy="10080149"/>
          </a:xfrm>
        </p:spPr>
        <p:txBody>
          <a:bodyPr anchor="b"/>
          <a:lstStyle>
            <a:lvl1pPr>
              <a:defRPr sz="1133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73917" y="6220102"/>
            <a:ext cx="16402140" cy="30700453"/>
          </a:xfrm>
        </p:spPr>
        <p:txBody>
          <a:bodyPr anchor="t"/>
          <a:lstStyle>
            <a:lvl1pPr marL="0" indent="0">
              <a:buNone/>
              <a:defRPr sz="11338"/>
            </a:lvl1pPr>
            <a:lvl2pPr marL="1619951" indent="0">
              <a:buNone/>
              <a:defRPr sz="9921"/>
            </a:lvl2pPr>
            <a:lvl3pPr marL="3239902" indent="0">
              <a:buNone/>
              <a:defRPr sz="8504"/>
            </a:lvl3pPr>
            <a:lvl4pPr marL="4859853" indent="0">
              <a:buNone/>
              <a:defRPr sz="7086"/>
            </a:lvl4pPr>
            <a:lvl5pPr marL="6479804" indent="0">
              <a:buNone/>
              <a:defRPr sz="7086"/>
            </a:lvl5pPr>
            <a:lvl6pPr marL="8099755" indent="0">
              <a:buNone/>
              <a:defRPr sz="7086"/>
            </a:lvl6pPr>
            <a:lvl7pPr marL="9719706" indent="0">
              <a:buNone/>
              <a:defRPr sz="7086"/>
            </a:lvl7pPr>
            <a:lvl8pPr marL="11339657" indent="0">
              <a:buNone/>
              <a:defRPr sz="7086"/>
            </a:lvl8pPr>
            <a:lvl9pPr marL="12959608" indent="0">
              <a:buNone/>
              <a:defRPr sz="7086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671" y="12960191"/>
            <a:ext cx="10449614" cy="24010358"/>
          </a:xfrm>
        </p:spPr>
        <p:txBody>
          <a:bodyPr/>
          <a:lstStyle>
            <a:lvl1pPr marL="0" indent="0">
              <a:buNone/>
              <a:defRPr sz="5669"/>
            </a:lvl1pPr>
            <a:lvl2pPr marL="1619951" indent="0">
              <a:buNone/>
              <a:defRPr sz="4960"/>
            </a:lvl2pPr>
            <a:lvl3pPr marL="3239902" indent="0">
              <a:buNone/>
              <a:defRPr sz="4252"/>
            </a:lvl3pPr>
            <a:lvl4pPr marL="4859853" indent="0">
              <a:buNone/>
              <a:defRPr sz="3543"/>
            </a:lvl4pPr>
            <a:lvl5pPr marL="6479804" indent="0">
              <a:buNone/>
              <a:defRPr sz="3543"/>
            </a:lvl5pPr>
            <a:lvl6pPr marL="8099755" indent="0">
              <a:buNone/>
              <a:defRPr sz="3543"/>
            </a:lvl6pPr>
            <a:lvl7pPr marL="9719706" indent="0">
              <a:buNone/>
              <a:defRPr sz="3543"/>
            </a:lvl7pPr>
            <a:lvl8pPr marL="11339657" indent="0">
              <a:buNone/>
              <a:defRPr sz="3543"/>
            </a:lvl8pPr>
            <a:lvl9pPr marL="12959608" indent="0">
              <a:buNone/>
              <a:defRPr sz="3543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793FE-9174-4BCA-8FC1-2C151984D1DA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2CB0-136A-46C6-A53C-3315DE620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812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793FE-9174-4BCA-8FC1-2C151984D1DA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2CB0-136A-46C6-A53C-3315DE620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7427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185742" y="2300034"/>
            <a:ext cx="6986096" cy="3661054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27453" y="2300034"/>
            <a:ext cx="20553298" cy="36610544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793FE-9174-4BCA-8FC1-2C151984D1DA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2CB0-136A-46C6-A53C-3315DE620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2586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27451" y="2300044"/>
            <a:ext cx="27944386" cy="8350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7451" y="11500170"/>
            <a:ext cx="27944386" cy="274104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A793FE-9174-4BCA-8FC1-2C151984D1DA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102CB0-136A-46C6-A53C-3315DE620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5065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239902" rtl="0" eaLnBrk="1" latinLnBrk="0" hangingPunct="1">
        <a:lnSpc>
          <a:spcPct val="90000"/>
        </a:lnSpc>
        <a:spcBef>
          <a:spcPct val="0"/>
        </a:spcBef>
        <a:buNone/>
        <a:defRPr sz="155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09976" indent="-809976" algn="l" defTabSz="3239902" rtl="0" eaLnBrk="1" latinLnBrk="0" hangingPunct="1">
        <a:lnSpc>
          <a:spcPct val="90000"/>
        </a:lnSpc>
        <a:spcBef>
          <a:spcPts val="3543"/>
        </a:spcBef>
        <a:buFont typeface="Arial" panose="020B0604020202020204" pitchFamily="34" charset="0"/>
        <a:buChar char="•"/>
        <a:defRPr sz="9921" kern="1200">
          <a:solidFill>
            <a:schemeClr val="tx1"/>
          </a:solidFill>
          <a:latin typeface="+mn-lt"/>
          <a:ea typeface="+mn-ea"/>
          <a:cs typeface="+mn-cs"/>
        </a:defRPr>
      </a:lvl1pPr>
      <a:lvl2pPr marL="2429927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8504" kern="1200">
          <a:solidFill>
            <a:schemeClr val="tx1"/>
          </a:solidFill>
          <a:latin typeface="+mn-lt"/>
          <a:ea typeface="+mn-ea"/>
          <a:cs typeface="+mn-cs"/>
        </a:defRPr>
      </a:lvl2pPr>
      <a:lvl3pPr marL="4049878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7086" kern="1200">
          <a:solidFill>
            <a:schemeClr val="tx1"/>
          </a:solidFill>
          <a:latin typeface="+mn-lt"/>
          <a:ea typeface="+mn-ea"/>
          <a:cs typeface="+mn-cs"/>
        </a:defRPr>
      </a:lvl3pPr>
      <a:lvl4pPr marL="5669829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4pPr>
      <a:lvl5pPr marL="7289780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5pPr>
      <a:lvl6pPr marL="8909731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6pPr>
      <a:lvl7pPr marL="10529682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7pPr>
      <a:lvl8pPr marL="12149633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8pPr>
      <a:lvl9pPr marL="13769584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1pPr>
      <a:lvl2pPr marL="1619951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2pPr>
      <a:lvl3pPr marL="3239902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3pPr>
      <a:lvl4pPr marL="4859853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4pPr>
      <a:lvl5pPr marL="6479804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5pPr>
      <a:lvl6pPr marL="8099755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6pPr>
      <a:lvl7pPr marL="9719706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7pPr>
      <a:lvl8pPr marL="11339657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8pPr>
      <a:lvl9pPr marL="12959608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9818"/>
            <a:ext cx="32399288" cy="9350593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CAFB5A10-A559-4D17-99B2-3CC9C0D04BCF}"/>
              </a:ext>
            </a:extLst>
          </p:cNvPr>
          <p:cNvSpPr txBox="1">
            <a:spLocks/>
          </p:cNvSpPr>
          <p:nvPr/>
        </p:nvSpPr>
        <p:spPr>
          <a:xfrm>
            <a:off x="426100" y="9947052"/>
            <a:ext cx="15480000" cy="903869"/>
          </a:xfrm>
          <a:prstGeom prst="rect">
            <a:avLst/>
          </a:prstGeom>
          <a:solidFill>
            <a:srgbClr val="004AAD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pt-BR" sz="5400" b="1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INTRODUÇÃO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6671933-630F-4FCA-8667-8E4238A4EDEC}"/>
              </a:ext>
            </a:extLst>
          </p:cNvPr>
          <p:cNvSpPr txBox="1">
            <a:spLocks/>
          </p:cNvSpPr>
          <p:nvPr/>
        </p:nvSpPr>
        <p:spPr>
          <a:xfrm>
            <a:off x="426100" y="22506237"/>
            <a:ext cx="15480000" cy="900000"/>
          </a:xfrm>
          <a:prstGeom prst="rect">
            <a:avLst/>
          </a:prstGeom>
          <a:solidFill>
            <a:srgbClr val="004AAD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pt-BR" sz="5400" b="1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METODOLOGIA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AFB5A10-A559-4D17-99B2-3CC9C0D04BCF}"/>
              </a:ext>
            </a:extLst>
          </p:cNvPr>
          <p:cNvSpPr txBox="1">
            <a:spLocks/>
          </p:cNvSpPr>
          <p:nvPr/>
        </p:nvSpPr>
        <p:spPr>
          <a:xfrm>
            <a:off x="426100" y="30286731"/>
            <a:ext cx="15480000" cy="903869"/>
          </a:xfrm>
          <a:prstGeom prst="rect">
            <a:avLst/>
          </a:prstGeom>
          <a:solidFill>
            <a:srgbClr val="004AAD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pt-BR" sz="5400" b="1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DESENVOLVIMENTO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6671933-630F-4FCA-8667-8E4238A4EDEC}"/>
              </a:ext>
            </a:extLst>
          </p:cNvPr>
          <p:cNvSpPr txBox="1">
            <a:spLocks/>
          </p:cNvSpPr>
          <p:nvPr/>
        </p:nvSpPr>
        <p:spPr>
          <a:xfrm>
            <a:off x="16398283" y="28106298"/>
            <a:ext cx="15480000" cy="918951"/>
          </a:xfrm>
          <a:prstGeom prst="rect">
            <a:avLst/>
          </a:prstGeom>
          <a:solidFill>
            <a:srgbClr val="004AAD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pt-BR" sz="5400" b="1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CONCLUSÃO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DAD87AE-89A6-52A1-29EC-4FE1447110BF}"/>
              </a:ext>
            </a:extLst>
          </p:cNvPr>
          <p:cNvSpPr txBox="1">
            <a:spLocks/>
          </p:cNvSpPr>
          <p:nvPr/>
        </p:nvSpPr>
        <p:spPr>
          <a:xfrm>
            <a:off x="16398283" y="35227150"/>
            <a:ext cx="15480000" cy="918951"/>
          </a:xfrm>
          <a:prstGeom prst="rect">
            <a:avLst/>
          </a:prstGeom>
          <a:solidFill>
            <a:srgbClr val="004AAD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pt-BR" sz="5400" b="1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REFERÊNCIAS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EEC24DC8-A8AA-31E9-25BC-0633580E6D2A}"/>
              </a:ext>
            </a:extLst>
          </p:cNvPr>
          <p:cNvSpPr txBox="1"/>
          <p:nvPr/>
        </p:nvSpPr>
        <p:spPr>
          <a:xfrm>
            <a:off x="17303364" y="311828"/>
            <a:ext cx="13423281" cy="3389967"/>
          </a:xfrm>
          <a:prstGeom prst="rect">
            <a:avLst/>
          </a:prstGeom>
          <a:noFill/>
          <a:effectLst>
            <a:glow rad="127000">
              <a:schemeClr val="bg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pt-BR" noProof="0" dirty="0">
                <a:latin typeface="Arial Black" panose="020B0A04020102020204" pitchFamily="34" charset="0"/>
              </a:rPr>
              <a:t>T-</a:t>
            </a:r>
            <a:r>
              <a:rPr lang="pt-BR" noProof="0" dirty="0" err="1">
                <a:latin typeface="Arial Black" panose="020B0A04020102020204" pitchFamily="34" charset="0"/>
              </a:rPr>
              <a:t>Fence</a:t>
            </a:r>
            <a:r>
              <a:rPr lang="pt-BR" dirty="0">
                <a:latin typeface="Arial Black" panose="020B0A04020102020204" pitchFamily="34" charset="0"/>
              </a:rPr>
              <a:t>: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Sistema de rastreamento de animas em áreas rurais</a:t>
            </a:r>
            <a:endParaRPr lang="pt-BR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00BE8362-781E-F55B-75B9-EF75444A371D}"/>
              </a:ext>
            </a:extLst>
          </p:cNvPr>
          <p:cNvSpPr txBox="1"/>
          <p:nvPr/>
        </p:nvSpPr>
        <p:spPr>
          <a:xfrm>
            <a:off x="17878480" y="4230900"/>
            <a:ext cx="13215349" cy="3389967"/>
          </a:xfrm>
          <a:prstGeom prst="rect">
            <a:avLst/>
          </a:prstGeom>
          <a:noFill/>
          <a:effectLst>
            <a:glow rad="127000">
              <a:schemeClr val="bg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none" rtlCol="0">
            <a:spAutoFit/>
          </a:bodyPr>
          <a:lstStyle/>
          <a:p>
            <a:r>
              <a:rPr lang="pt-BR" noProof="0" dirty="0"/>
              <a:t>Vinicius Fernandes de Lima</a:t>
            </a:r>
          </a:p>
          <a:p>
            <a:pPr algn="just"/>
            <a:r>
              <a:rPr lang="pt-BR" noProof="0" dirty="0"/>
              <a:t>Vinicius Augusto Rodrigues da Silva</a:t>
            </a:r>
            <a:br>
              <a:rPr lang="pt-BR" noProof="0" dirty="0"/>
            </a:br>
            <a:r>
              <a:rPr lang="pt-BR" noProof="0" dirty="0"/>
              <a:t>Jônatas </a:t>
            </a:r>
            <a:r>
              <a:rPr lang="pt-BR" noProof="0" dirty="0" err="1"/>
              <a:t>Frinhani</a:t>
            </a:r>
            <a:r>
              <a:rPr lang="pt-BR" noProof="0" dirty="0"/>
              <a:t> de Souza Palmieri</a:t>
            </a:r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8FA82F67-3523-276C-B2AA-278576E57B20}"/>
              </a:ext>
            </a:extLst>
          </p:cNvPr>
          <p:cNvCxnSpPr/>
          <p:nvPr/>
        </p:nvCxnSpPr>
        <p:spPr>
          <a:xfrm>
            <a:off x="426100" y="9752105"/>
            <a:ext cx="31401384" cy="0"/>
          </a:xfrm>
          <a:prstGeom prst="line">
            <a:avLst/>
          </a:prstGeom>
          <a:ln w="98425">
            <a:solidFill>
              <a:srgbClr val="004A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7BC274BA-817C-D096-1099-8F0540A508CE}"/>
              </a:ext>
            </a:extLst>
          </p:cNvPr>
          <p:cNvCxnSpPr/>
          <p:nvPr/>
        </p:nvCxnSpPr>
        <p:spPr>
          <a:xfrm>
            <a:off x="476900" y="40867105"/>
            <a:ext cx="31401384" cy="0"/>
          </a:xfrm>
          <a:prstGeom prst="line">
            <a:avLst/>
          </a:prstGeom>
          <a:ln w="98425">
            <a:solidFill>
              <a:srgbClr val="004A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8CA93710-CB4B-0668-ECFE-84545658FC60}"/>
              </a:ext>
            </a:extLst>
          </p:cNvPr>
          <p:cNvSpPr txBox="1"/>
          <p:nvPr/>
        </p:nvSpPr>
        <p:spPr>
          <a:xfrm>
            <a:off x="451673" y="10910278"/>
            <a:ext cx="15428854" cy="11403122"/>
          </a:xfrm>
          <a:prstGeom prst="rect">
            <a:avLst/>
          </a:prstGeom>
          <a:noFill/>
          <a:effectLst>
            <a:glow rad="127000">
              <a:schemeClr val="bg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just"/>
            <a:r>
              <a:rPr lang="pt-BR" sz="3500" noProof="0" dirty="0">
                <a:latin typeface="Arial" panose="020B0604020202020204" pitchFamily="34" charset="0"/>
                <a:cs typeface="Arial" panose="020B0604020202020204" pitchFamily="34" charset="0"/>
              </a:rPr>
              <a:t>Segundo o Centro de Estudos Avançados em Economia Aplicada (Cepea, 2025), em 2025 o agronegócio poderia representar 29,4% do PIB nacional. Essa informação demonstra a importância da agropecuária na economia nacional, no entanto essa indústria sofre com sérios problemas relacionados com a alta taxa de criminalidade na zona rural. </a:t>
            </a:r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Propriedades rurais ao redor de todo o Brasil sofrem problemas relacionados a sua segurança, tendo como principal alvo, os seus animais. Segundo Oliveira, Medina e Teixeira (2021), cerca de 90% dos crimes cometidos em áreas rurais de Goiás nos anos de 2017 e 2018 foram determinados como furtos, tendo como principal foco animais bovinos, reconhecidos juridicamente como abigeatos. Outro fator a ser levado em consideração é a dificuldade durante a implementação de soluções tecnológicas no setor rural, tendo em vista a pobre infraestrutura da região.</a:t>
            </a:r>
          </a:p>
          <a:p>
            <a:pPr algn="just"/>
            <a:r>
              <a:rPr lang="pt-BR" sz="3500" noProof="0" dirty="0">
                <a:latin typeface="Arial" panose="020B0604020202020204" pitchFamily="34" charset="0"/>
                <a:cs typeface="Arial" panose="020B0604020202020204" pitchFamily="34" charset="0"/>
              </a:rPr>
              <a:t>Com isso</a:t>
            </a:r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, a T-</a:t>
            </a:r>
            <a:r>
              <a:rPr lang="pt-BR" sz="3500" dirty="0" err="1">
                <a:latin typeface="Arial" panose="020B0604020202020204" pitchFamily="34" charset="0"/>
                <a:cs typeface="Arial" panose="020B0604020202020204" pitchFamily="34" charset="0"/>
              </a:rPr>
              <a:t>Fence</a:t>
            </a:r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 surge com o propósito de auxiliar o produtor rural a monitorar seus animais no campo. A solução proposta é a criação de dois dispositivos IoT, que trabalham com o objetivo de transmitir a localização do animal até um aplicativo, para que o produtor rural tenha acesso em seu celular, de uma forma prática. O objetivo do projeto é desenvolver um sistema de rastreamento de baixo custo, energeticamente autônomo, com comunicação de longo alcance que possa enviar alertas de fuga para um dispositivo móvel. 	</a:t>
            </a:r>
            <a:endParaRPr lang="pt-BR" sz="35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254287B0-A21A-78B4-3CBA-D9CEBE20D85F}"/>
              </a:ext>
            </a:extLst>
          </p:cNvPr>
          <p:cNvSpPr txBox="1"/>
          <p:nvPr/>
        </p:nvSpPr>
        <p:spPr>
          <a:xfrm>
            <a:off x="426100" y="23607079"/>
            <a:ext cx="15428854" cy="6555641"/>
          </a:xfrm>
          <a:prstGeom prst="rect">
            <a:avLst/>
          </a:prstGeom>
          <a:noFill/>
          <a:effectLst>
            <a:glow rad="127000">
              <a:schemeClr val="bg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just"/>
            <a:r>
              <a:rPr lang="pt-BR" sz="3500" noProof="0" dirty="0">
                <a:latin typeface="Arial" panose="020B0604020202020204" pitchFamily="34" charset="0"/>
                <a:cs typeface="Arial" panose="020B0604020202020204" pitchFamily="34" charset="0"/>
              </a:rPr>
              <a:t>Foi </a:t>
            </a:r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utilizada uma metodologia de caráter quantitativo para a concepção do projeto. Como afirma Lakatos e Marconi (2017) o objetivo desse método é quantificar resultados e tratá-los de forma estatística, permitindo maior precisão na análise, além de possibilitar identificar padrões no contexto estudado. A aplicação desse método foi fundamentada em livros, artigos, notícias e sites. </a:t>
            </a:r>
          </a:p>
          <a:p>
            <a:pPr algn="just"/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Para a obtenção de resultados satisfatórios, foi essencial desenvolver uma solução que se adequasse ao cenário da região, levando em consideração a pobre infraestrutura da zona rural e a dificuldade do monitoramento dos animais, devido às grandes extensões </a:t>
            </a:r>
            <a:r>
              <a:rPr lang="pt-BR" sz="3500" dirty="0" err="1">
                <a:latin typeface="Arial" panose="020B0604020202020204" pitchFamily="34" charset="0"/>
                <a:cs typeface="Arial" panose="020B0604020202020204" pitchFamily="34" charset="0"/>
              </a:rPr>
              <a:t>territoriaisPor</a:t>
            </a:r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 isso, foram projetados dois dispositivos que pudessem se comunicar a longo alcance, sem depender de sinal de internet.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E7388992-DCE4-D0EF-E469-0A343607D02E}"/>
              </a:ext>
            </a:extLst>
          </p:cNvPr>
          <p:cNvSpPr txBox="1"/>
          <p:nvPr/>
        </p:nvSpPr>
        <p:spPr>
          <a:xfrm>
            <a:off x="426100" y="31391853"/>
            <a:ext cx="15428854" cy="2785378"/>
          </a:xfrm>
          <a:prstGeom prst="rect">
            <a:avLst/>
          </a:prstGeom>
          <a:noFill/>
          <a:effectLst>
            <a:glow rad="127000">
              <a:schemeClr val="bg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just"/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A T-</a:t>
            </a:r>
            <a:r>
              <a:rPr lang="pt-BR" sz="3500" dirty="0" err="1">
                <a:latin typeface="Arial" panose="020B0604020202020204" pitchFamily="34" charset="0"/>
                <a:cs typeface="Arial" panose="020B0604020202020204" pitchFamily="34" charset="0"/>
              </a:rPr>
              <a:t>Fence</a:t>
            </a:r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 surgiu para facilitar o cotidiano do produtor rural, proporcionando o controle de seus animais com mais eficiência. O sistema oferece uma maior mobilidade, permitindo o monitoramento remoto do rebanho de qualquer lugar, utilizando o seu celular. A seguir, uma imagem com as principais telas do aplicativo desenvolvido para o projeto: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735BE276-FC47-F1C1-0E1D-77FFDFA38504}"/>
              </a:ext>
            </a:extLst>
          </p:cNvPr>
          <p:cNvSpPr txBox="1"/>
          <p:nvPr/>
        </p:nvSpPr>
        <p:spPr>
          <a:xfrm>
            <a:off x="16398630" y="9947052"/>
            <a:ext cx="15428854" cy="6017032"/>
          </a:xfrm>
          <a:prstGeom prst="rect">
            <a:avLst/>
          </a:prstGeom>
          <a:noFill/>
          <a:effectLst>
            <a:glow rad="127000">
              <a:schemeClr val="bg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just"/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O funcionamento baseia-se na captura de localização via GPS pela coleira acoplada ao animal, transmitida a longa distância pela tecnologia </a:t>
            </a:r>
            <a:r>
              <a:rPr lang="pt-BR" sz="3500" dirty="0" err="1">
                <a:latin typeface="Arial" panose="020B0604020202020204" pitchFamily="34" charset="0"/>
                <a:cs typeface="Arial" panose="020B0604020202020204" pitchFamily="34" charset="0"/>
              </a:rPr>
              <a:t>LoRa</a:t>
            </a:r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 para o dispositivo central. Ao receber os dados, o sistema verifica a posição em relação à cerca virtual (</a:t>
            </a:r>
            <a:r>
              <a:rPr lang="pt-BR" sz="3500" dirty="0" err="1">
                <a:latin typeface="Arial" panose="020B0604020202020204" pitchFamily="34" charset="0"/>
                <a:cs typeface="Arial" panose="020B0604020202020204" pitchFamily="34" charset="0"/>
              </a:rPr>
              <a:t>Geofencing</a:t>
            </a:r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) definida no aplicativo, disparando alertas automáticos de fuga e atualizando o mapa de monitoramento no aplicativo. A aplicação mobile utiliza o framework </a:t>
            </a:r>
            <a:r>
              <a:rPr lang="pt-BR" sz="3500" dirty="0" err="1">
                <a:latin typeface="Arial" panose="020B0604020202020204" pitchFamily="34" charset="0"/>
                <a:cs typeface="Arial" panose="020B0604020202020204" pitchFamily="34" charset="0"/>
              </a:rPr>
              <a:t>React</a:t>
            </a:r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500" dirty="0" err="1">
                <a:latin typeface="Arial" panose="020B0604020202020204" pitchFamily="34" charset="0"/>
                <a:cs typeface="Arial" panose="020B0604020202020204" pitchFamily="34" charset="0"/>
              </a:rPr>
              <a:t>Native</a:t>
            </a:r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 (front-</a:t>
            </a:r>
            <a:r>
              <a:rPr lang="pt-BR" sz="3500" dirty="0" err="1"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), Node.js (</a:t>
            </a:r>
            <a:r>
              <a:rPr lang="pt-BR" sz="3500" dirty="0" err="1">
                <a:latin typeface="Arial" panose="020B0604020202020204" pitchFamily="34" charset="0"/>
                <a:cs typeface="Arial" panose="020B0604020202020204" pitchFamily="34" charset="0"/>
              </a:rPr>
              <a:t>back-end</a:t>
            </a:r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) e MongoDB para a base de dados. O dispositivo IoT opera com o microcontrolador ESP32, integrado a um módulo GPS para localização e tecnologia </a:t>
            </a:r>
            <a:r>
              <a:rPr lang="pt-BR" sz="3500" dirty="0" err="1">
                <a:latin typeface="Arial" panose="020B0604020202020204" pitchFamily="34" charset="0"/>
                <a:cs typeface="Arial" panose="020B0604020202020204" pitchFamily="34" charset="0"/>
              </a:rPr>
              <a:t>LoRa</a:t>
            </a:r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 para transmissão de dados a longa distância A estrutura física (case) foi modelada em 3D e impressa em PETG, projetada para acomodar o hardware e garantir o conforto do animal. 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3DB8B333-66E3-08E4-00AE-30C1ACDE326B}"/>
              </a:ext>
            </a:extLst>
          </p:cNvPr>
          <p:cNvSpPr txBox="1"/>
          <p:nvPr/>
        </p:nvSpPr>
        <p:spPr>
          <a:xfrm>
            <a:off x="16398630" y="36099660"/>
            <a:ext cx="15428854" cy="5262979"/>
          </a:xfrm>
          <a:prstGeom prst="rect">
            <a:avLst/>
          </a:prstGeom>
          <a:noFill/>
          <a:effectLst>
            <a:glow rad="127000">
              <a:schemeClr val="bg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just"/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CENTRO DE ESTUDOS AVANÇADOS EM ECONOMIA APLICADA (CEPEA). 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PIB do agronegócio brasileiro.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Piracicaba, SP: CEPEA/Esalq-USP, 17 jun. 2025. Disponível em: https://www.cepea.org.br/</a:t>
            </a:r>
            <a:r>
              <a:rPr lang="pt-BR" sz="2800" dirty="0" err="1">
                <a:latin typeface="Arial" panose="020B0604020202020204" pitchFamily="34" charset="0"/>
                <a:cs typeface="Arial" panose="020B0604020202020204" pitchFamily="34" charset="0"/>
              </a:rPr>
              <a:t>br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/pib-do-agronegocio-brasileiro.aspx. Acesso em: 09 ago. 2025.</a:t>
            </a:r>
          </a:p>
          <a:p>
            <a:pPr algn="just"/>
            <a:endParaRPr lang="pt-BR" sz="28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OLIVEIRA, Carlos </a:t>
            </a:r>
            <a:r>
              <a:rPr lang="pt-BR" sz="2800" dirty="0" err="1">
                <a:latin typeface="Arial" panose="020B0604020202020204" pitchFamily="34" charset="0"/>
                <a:cs typeface="Arial" panose="020B0604020202020204" pitchFamily="34" charset="0"/>
              </a:rPr>
              <a:t>Antonio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Ferreira de; MEDINA, Gabriel da Silva; TEIXEIRA, Lana Mara Silva. 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Análise dos registros dos crimes de furto e roubo contra propriedades rurais em Goiás nos anos de 2017 e 2018. 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Boletim Goiano de Geografia, Goiânia, v. 41, n. 1, 2021. Disponível em: https://revistas.ufg.br/</a:t>
            </a:r>
            <a:r>
              <a:rPr lang="pt-BR" sz="2800" dirty="0" err="1">
                <a:latin typeface="Arial" panose="020B0604020202020204" pitchFamily="34" charset="0"/>
                <a:cs typeface="Arial" panose="020B0604020202020204" pitchFamily="34" charset="0"/>
              </a:rPr>
              <a:t>bgg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pt-BR" sz="2800" dirty="0" err="1">
                <a:latin typeface="Arial" panose="020B0604020202020204" pitchFamily="34" charset="0"/>
                <a:cs typeface="Arial" panose="020B0604020202020204" pitchFamily="34" charset="0"/>
              </a:rPr>
              <a:t>article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pt-BR" sz="2800" dirty="0" err="1">
                <a:latin typeface="Arial" panose="020B0604020202020204" pitchFamily="34" charset="0"/>
                <a:cs typeface="Arial" panose="020B0604020202020204" pitchFamily="34" charset="0"/>
              </a:rPr>
              <a:t>view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/62579. Acesso em: 9 ago. 2025.</a:t>
            </a:r>
          </a:p>
          <a:p>
            <a:pPr algn="just"/>
            <a:endParaRPr lang="pt-BR" sz="28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LAKATOS, Eva Maria; MARCONI, Marina de Andrade. 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Fundamentos de metodologia científica. 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8. ed. São Paulo: Atlas, 2017.</a:t>
            </a:r>
          </a:p>
          <a:p>
            <a:pPr algn="just"/>
            <a:endParaRPr lang="pt-BR" sz="28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DDD6CEF0-4195-06BB-E3F6-0B6E3B133CB8}"/>
              </a:ext>
            </a:extLst>
          </p:cNvPr>
          <p:cNvSpPr txBox="1"/>
          <p:nvPr/>
        </p:nvSpPr>
        <p:spPr>
          <a:xfrm>
            <a:off x="16398630" y="29117038"/>
            <a:ext cx="15428854" cy="6017032"/>
          </a:xfrm>
          <a:prstGeom prst="rect">
            <a:avLst/>
          </a:prstGeom>
          <a:noFill/>
          <a:effectLst>
            <a:glow rad="127000">
              <a:schemeClr val="bg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just"/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O desenvolvimento do projeto T-</a:t>
            </a:r>
            <a:r>
              <a:rPr lang="pt-BR" sz="3500" dirty="0" err="1">
                <a:latin typeface="Arial" panose="020B0604020202020204" pitchFamily="34" charset="0"/>
                <a:cs typeface="Arial" panose="020B0604020202020204" pitchFamily="34" charset="0"/>
              </a:rPr>
              <a:t>Fence</a:t>
            </a:r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 indicou que as limitações de infraestrutura no campo, embora desafiadoras, podem ser contornadas para o monitoramento de animais. Os testes realizados demonstraram a viabilidade técnica inicial do sistema, sugerindo que a integração entre a comunicação </a:t>
            </a:r>
            <a:r>
              <a:rPr lang="pt-BR" sz="3500" dirty="0" err="1">
                <a:latin typeface="Arial" panose="020B0604020202020204" pitchFamily="34" charset="0"/>
                <a:cs typeface="Arial" panose="020B0604020202020204" pitchFamily="34" charset="0"/>
              </a:rPr>
              <a:t>LoRa</a:t>
            </a:r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 e a energia fotovoltaica é uma alternativa promissora para regiões com escassez de conectividade e energia elétrica.</a:t>
            </a:r>
          </a:p>
          <a:p>
            <a:pPr algn="just"/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Dessa forma, a solução apresenta-se como uma proposta com potencial para ser acessível e sustentável, visando auxiliar os produtores rurais no controle do rebanho e na mitigação de riscos. O projeto, assim, busca contribuir para a discussão sobre segurança na gestão pecuária e fomentar a inserção de novas tecnologias no setor.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4E67AF63-8667-635A-BF46-35A3729B08EC}"/>
              </a:ext>
            </a:extLst>
          </p:cNvPr>
          <p:cNvSpPr txBox="1"/>
          <p:nvPr/>
        </p:nvSpPr>
        <p:spPr>
          <a:xfrm>
            <a:off x="0" y="2919066"/>
            <a:ext cx="11360431" cy="2400657"/>
          </a:xfrm>
          <a:prstGeom prst="rect">
            <a:avLst/>
          </a:prstGeom>
          <a:noFill/>
          <a:effectLst>
            <a:glow rad="127000">
              <a:schemeClr val="bg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pt-BR" sz="5000" noProof="0" dirty="0" err="1">
                <a:solidFill>
                  <a:srgbClr val="004AAD"/>
                </a:solidFill>
                <a:latin typeface="Arial Black" panose="020B0A04020102020204" pitchFamily="34" charset="0"/>
              </a:rPr>
              <a:t>Mtec</a:t>
            </a:r>
            <a:r>
              <a:rPr lang="pt-BR" sz="5000" noProof="0" dirty="0">
                <a:solidFill>
                  <a:srgbClr val="004AAD"/>
                </a:solidFill>
                <a:latin typeface="Arial Black" panose="020B0A04020102020204" pitchFamily="34" charset="0"/>
              </a:rPr>
              <a:t> em </a:t>
            </a:r>
          </a:p>
          <a:p>
            <a:pPr algn="ctr"/>
            <a:r>
              <a:rPr lang="pt-BR" sz="5000" noProof="0" dirty="0">
                <a:solidFill>
                  <a:srgbClr val="004AAD"/>
                </a:solidFill>
                <a:latin typeface="Arial Black" panose="020B0A04020102020204" pitchFamily="34" charset="0"/>
              </a:rPr>
              <a:t>Desenvolvimento de Sistemas AMS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00BE8362-781E-F55B-75B9-EF75444A371D}"/>
              </a:ext>
            </a:extLst>
          </p:cNvPr>
          <p:cNvSpPr txBox="1"/>
          <p:nvPr/>
        </p:nvSpPr>
        <p:spPr>
          <a:xfrm>
            <a:off x="20346151" y="8440663"/>
            <a:ext cx="9554475" cy="707886"/>
          </a:xfrm>
          <a:prstGeom prst="rect">
            <a:avLst/>
          </a:prstGeom>
          <a:noFill/>
          <a:effectLst>
            <a:glow rad="127000">
              <a:schemeClr val="bg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none" rtlCol="0">
            <a:spAutoFit/>
          </a:bodyPr>
          <a:lstStyle/>
          <a:p>
            <a:r>
              <a:rPr lang="pt-BR" sz="4000" noProof="0" dirty="0"/>
              <a:t>Orientador</a:t>
            </a:r>
            <a:r>
              <a:rPr lang="pt-BR" sz="4000" dirty="0"/>
              <a:t>: Salomão Santana do Nascimento</a:t>
            </a:r>
          </a:p>
        </p:txBody>
      </p:sp>
      <p:pic>
        <p:nvPicPr>
          <p:cNvPr id="26" name="Imagem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899" y="40991117"/>
            <a:ext cx="31312351" cy="2059729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F5C2FDD9-6108-C745-A64C-75AA31E981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20792" y="41028644"/>
            <a:ext cx="5421761" cy="2043460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2524" y="5562407"/>
            <a:ext cx="5178582" cy="3264367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4BF5671F-CADF-E0EA-57E4-BB1336E23324}"/>
              </a:ext>
            </a:extLst>
          </p:cNvPr>
          <p:cNvSpPr txBox="1"/>
          <p:nvPr/>
        </p:nvSpPr>
        <p:spPr>
          <a:xfrm>
            <a:off x="4960181" y="34435148"/>
            <a:ext cx="6411838" cy="477054"/>
          </a:xfrm>
          <a:prstGeom prst="rect">
            <a:avLst/>
          </a:prstGeom>
          <a:noFill/>
          <a:effectLst>
            <a:glow rad="127000">
              <a:schemeClr val="bg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pt-BR" sz="2500" b="1" noProof="0" dirty="0">
                <a:latin typeface="Arial" panose="020B0604020202020204" pitchFamily="34" charset="0"/>
                <a:cs typeface="Arial" panose="020B0604020202020204" pitchFamily="34" charset="0"/>
              </a:rPr>
              <a:t>Figura 1 – </a:t>
            </a:r>
            <a:r>
              <a:rPr lang="pt-BR" sz="2500" b="1" dirty="0">
                <a:latin typeface="Arial" panose="020B0604020202020204" pitchFamily="34" charset="0"/>
                <a:cs typeface="Arial" panose="020B0604020202020204" pitchFamily="34" charset="0"/>
              </a:rPr>
              <a:t>Principais telas do aplicativo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C2AABBA9-AA58-F998-171E-4BDD2DAE4BCA}"/>
              </a:ext>
            </a:extLst>
          </p:cNvPr>
          <p:cNvSpPr txBox="1"/>
          <p:nvPr/>
        </p:nvSpPr>
        <p:spPr>
          <a:xfrm>
            <a:off x="5711653" y="40000651"/>
            <a:ext cx="4908894" cy="477054"/>
          </a:xfrm>
          <a:prstGeom prst="rect">
            <a:avLst/>
          </a:prstGeom>
          <a:noFill/>
          <a:effectLst>
            <a:glow rad="127000">
              <a:schemeClr val="bg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pt-BR" sz="2500" noProof="0" dirty="0">
                <a:latin typeface="Arial" panose="020B0604020202020204" pitchFamily="34" charset="0"/>
                <a:cs typeface="Arial" panose="020B0604020202020204" pitchFamily="34" charset="0"/>
              </a:rPr>
              <a:t>Fonte: </a:t>
            </a:r>
            <a:r>
              <a:rPr lang="pt-BR" sz="250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pt-BR" sz="2500" noProof="0" dirty="0">
                <a:latin typeface="Arial" panose="020B0604020202020204" pitchFamily="34" charset="0"/>
                <a:cs typeface="Arial" panose="020B0604020202020204" pitchFamily="34" charset="0"/>
              </a:rPr>
              <a:t>e autoria </a:t>
            </a:r>
            <a:r>
              <a:rPr lang="pt-BR" sz="25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pt-BR" sz="2500" noProof="0" dirty="0" err="1">
                <a:latin typeface="Arial" panose="020B0604020202020204" pitchFamily="34" charset="0"/>
                <a:cs typeface="Arial" panose="020B0604020202020204" pitchFamily="34" charset="0"/>
              </a:rPr>
              <a:t>rópria</a:t>
            </a:r>
            <a:r>
              <a:rPr lang="pt-BR" sz="2500" noProof="0" dirty="0">
                <a:latin typeface="Arial" panose="020B0604020202020204" pitchFamily="34" charset="0"/>
                <a:cs typeface="Arial" panose="020B0604020202020204" pitchFamily="34" charset="0"/>
              </a:rPr>
              <a:t>, 2025.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906CD538-F8A9-CE95-393F-FFBE35F134B7}"/>
              </a:ext>
            </a:extLst>
          </p:cNvPr>
          <p:cNvSpPr txBox="1"/>
          <p:nvPr/>
        </p:nvSpPr>
        <p:spPr>
          <a:xfrm>
            <a:off x="20346152" y="16088938"/>
            <a:ext cx="8279999" cy="477054"/>
          </a:xfrm>
          <a:prstGeom prst="rect">
            <a:avLst/>
          </a:prstGeom>
          <a:noFill/>
          <a:effectLst>
            <a:glow rad="127000">
              <a:schemeClr val="bg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pt-BR" sz="2500" b="1" noProof="0" dirty="0">
                <a:latin typeface="Arial" panose="020B0604020202020204" pitchFamily="34" charset="0"/>
                <a:cs typeface="Arial" panose="020B0604020202020204" pitchFamily="34" charset="0"/>
              </a:rPr>
              <a:t>Figura 2 – </a:t>
            </a:r>
            <a:r>
              <a:rPr lang="pt-BR" sz="2500" b="1" dirty="0">
                <a:latin typeface="Arial" panose="020B0604020202020204" pitchFamily="34" charset="0"/>
                <a:cs typeface="Arial" panose="020B0604020202020204" pitchFamily="34" charset="0"/>
              </a:rPr>
              <a:t>Imagem do modelo 3D da coleira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FCB82B05-A48E-91CF-5570-3F4350DBE5AF}"/>
              </a:ext>
            </a:extLst>
          </p:cNvPr>
          <p:cNvSpPr txBox="1"/>
          <p:nvPr/>
        </p:nvSpPr>
        <p:spPr>
          <a:xfrm>
            <a:off x="20346152" y="21451285"/>
            <a:ext cx="8279999" cy="477054"/>
          </a:xfrm>
          <a:prstGeom prst="rect">
            <a:avLst/>
          </a:prstGeom>
          <a:noFill/>
          <a:effectLst>
            <a:glow rad="127000">
              <a:schemeClr val="bg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pt-BR" sz="2500" noProof="0" dirty="0">
                <a:latin typeface="Arial" panose="020B0604020202020204" pitchFamily="34" charset="0"/>
                <a:cs typeface="Arial" panose="020B0604020202020204" pitchFamily="34" charset="0"/>
              </a:rPr>
              <a:t>Fonte: </a:t>
            </a:r>
            <a:r>
              <a:rPr lang="pt-BR" sz="250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pt-BR" sz="2500" noProof="0" dirty="0">
                <a:latin typeface="Arial" panose="020B0604020202020204" pitchFamily="34" charset="0"/>
                <a:cs typeface="Arial" panose="020B0604020202020204" pitchFamily="34" charset="0"/>
              </a:rPr>
              <a:t>e autoria </a:t>
            </a:r>
            <a:r>
              <a:rPr lang="pt-BR" sz="25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pt-BR" sz="2500" noProof="0" dirty="0" err="1">
                <a:latin typeface="Arial" panose="020B0604020202020204" pitchFamily="34" charset="0"/>
                <a:cs typeface="Arial" panose="020B0604020202020204" pitchFamily="34" charset="0"/>
              </a:rPr>
              <a:t>rópria</a:t>
            </a:r>
            <a:r>
              <a:rPr lang="pt-BR" sz="2500" noProof="0" dirty="0">
                <a:latin typeface="Arial" panose="020B0604020202020204" pitchFamily="34" charset="0"/>
                <a:cs typeface="Arial" panose="020B0604020202020204" pitchFamily="34" charset="0"/>
              </a:rPr>
              <a:t>, 2025.</a:t>
            </a:r>
          </a:p>
        </p:txBody>
      </p:sp>
      <p:pic>
        <p:nvPicPr>
          <p:cNvPr id="36" name="Imagem 35" descr="Interface gráfica do usuário, Aplicativo">
            <a:extLst>
              <a:ext uri="{FF2B5EF4-FFF2-40B4-BE49-F238E27FC236}">
                <a16:creationId xmlns:a16="http://schemas.microsoft.com/office/drawing/2014/main" id="{EA2A36DD-E9B8-5F5F-B1C1-DCA1ACD88F8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6100" y="34933460"/>
            <a:ext cx="9000000" cy="506719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</p:pic>
      <p:pic>
        <p:nvPicPr>
          <p:cNvPr id="37" name="Imagem 36" descr="Em preto e branco&#10;&#10;O conteúdo gerado por IA pode estar incorreto.">
            <a:extLst>
              <a:ext uri="{FF2B5EF4-FFF2-40B4-BE49-F238E27FC236}">
                <a16:creationId xmlns:a16="http://schemas.microsoft.com/office/drawing/2014/main" id="{36DCDF19-77ED-3B50-A66C-24CEA9817B5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46151" y="16688308"/>
            <a:ext cx="8280000" cy="46498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</p:pic>
      <p:pic>
        <p:nvPicPr>
          <p:cNvPr id="39" name="Imagem 38" descr="Diagrama, Desenho técnico&#10;&#10;O conteúdo gerado por IA pode estar incorreto.">
            <a:extLst>
              <a:ext uri="{FF2B5EF4-FFF2-40B4-BE49-F238E27FC236}">
                <a16:creationId xmlns:a16="http://schemas.microsoft.com/office/drawing/2014/main" id="{0D57A173-A288-8ECC-51E6-AC3611251B9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46151" y="22614927"/>
            <a:ext cx="8280000" cy="46498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</p:pic>
      <p:sp>
        <p:nvSpPr>
          <p:cNvPr id="41" name="CaixaDeTexto 40">
            <a:extLst>
              <a:ext uri="{FF2B5EF4-FFF2-40B4-BE49-F238E27FC236}">
                <a16:creationId xmlns:a16="http://schemas.microsoft.com/office/drawing/2014/main" id="{9A863AFB-043E-8D14-105A-419735E291C3}"/>
              </a:ext>
            </a:extLst>
          </p:cNvPr>
          <p:cNvSpPr txBox="1"/>
          <p:nvPr/>
        </p:nvSpPr>
        <p:spPr>
          <a:xfrm>
            <a:off x="20346151" y="22019452"/>
            <a:ext cx="8280000" cy="477054"/>
          </a:xfrm>
          <a:prstGeom prst="rect">
            <a:avLst/>
          </a:prstGeom>
          <a:noFill/>
          <a:effectLst>
            <a:glow rad="127000">
              <a:schemeClr val="bg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pt-BR" sz="2500" b="1" noProof="0" dirty="0">
                <a:latin typeface="Arial" panose="020B0604020202020204" pitchFamily="34" charset="0"/>
                <a:cs typeface="Arial" panose="020B0604020202020204" pitchFamily="34" charset="0"/>
              </a:rPr>
              <a:t>Figura 3 – </a:t>
            </a:r>
            <a:r>
              <a:rPr lang="pt-BR" sz="2500" b="1" dirty="0">
                <a:latin typeface="Arial" panose="020B0604020202020204" pitchFamily="34" charset="0"/>
                <a:cs typeface="Arial" panose="020B0604020202020204" pitchFamily="34" charset="0"/>
              </a:rPr>
              <a:t>Imagem do modelo 3D da central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EBDF20B1-71C4-A639-DADA-078F77AD09BE}"/>
              </a:ext>
            </a:extLst>
          </p:cNvPr>
          <p:cNvSpPr txBox="1"/>
          <p:nvPr/>
        </p:nvSpPr>
        <p:spPr>
          <a:xfrm>
            <a:off x="20346151" y="27447018"/>
            <a:ext cx="8280001" cy="477054"/>
          </a:xfrm>
          <a:prstGeom prst="rect">
            <a:avLst/>
          </a:prstGeom>
          <a:noFill/>
          <a:effectLst>
            <a:glow rad="127000">
              <a:schemeClr val="bg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pt-BR" sz="2500" noProof="0" dirty="0">
                <a:latin typeface="Arial" panose="020B0604020202020204" pitchFamily="34" charset="0"/>
                <a:cs typeface="Arial" panose="020B0604020202020204" pitchFamily="34" charset="0"/>
              </a:rPr>
              <a:t>Fonte: </a:t>
            </a:r>
            <a:r>
              <a:rPr lang="pt-BR" sz="250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pt-BR" sz="2500" noProof="0" dirty="0">
                <a:latin typeface="Arial" panose="020B0604020202020204" pitchFamily="34" charset="0"/>
                <a:cs typeface="Arial" panose="020B0604020202020204" pitchFamily="34" charset="0"/>
              </a:rPr>
              <a:t>e autoria </a:t>
            </a:r>
            <a:r>
              <a:rPr lang="pt-BR" sz="25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pt-BR" sz="2500" noProof="0" dirty="0" err="1">
                <a:latin typeface="Arial" panose="020B0604020202020204" pitchFamily="34" charset="0"/>
                <a:cs typeface="Arial" panose="020B0604020202020204" pitchFamily="34" charset="0"/>
              </a:rPr>
              <a:t>rópria</a:t>
            </a:r>
            <a:r>
              <a:rPr lang="pt-BR" sz="2500" noProof="0" dirty="0">
                <a:latin typeface="Arial" panose="020B0604020202020204" pitchFamily="34" charset="0"/>
                <a:cs typeface="Arial" panose="020B0604020202020204" pitchFamily="34" charset="0"/>
              </a:rPr>
              <a:t>, 2025.</a:t>
            </a:r>
          </a:p>
        </p:txBody>
      </p:sp>
    </p:spTree>
    <p:extLst>
      <p:ext uri="{BB962C8B-B14F-4D97-AF65-F5344CB8AC3E}">
        <p14:creationId xmlns:p14="http://schemas.microsoft.com/office/powerpoint/2010/main" val="402541763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  <a:effectLst>
          <a:glow rad="127000">
            <a:schemeClr val="bg1">
              <a:alpha val="0"/>
            </a:schemeClr>
          </a:glow>
          <a:outerShdw blurRad="50800" dist="50800" dir="5400000" algn="ctr" rotWithShape="0">
            <a:srgbClr val="000000">
              <a:alpha val="0"/>
            </a:srgbClr>
          </a:outerShdw>
        </a:effectLst>
      </a:spPr>
      <a:bodyPr wrap="square" rtlCol="0">
        <a:spAutoFit/>
      </a:bodyPr>
      <a:lstStyle>
        <a:defPPr>
          <a:defRPr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14B8C388CB6DD44A360E8CAEA0AE064" ma:contentTypeVersion="1" ma:contentTypeDescription="Crie um novo documento." ma:contentTypeScope="" ma:versionID="d4ea0535b7efbf76528d940d5d08931c">
  <xsd:schema xmlns:xsd="http://www.w3.org/2001/XMLSchema" xmlns:xs="http://www.w3.org/2001/XMLSchema" xmlns:p="http://schemas.microsoft.com/office/2006/metadata/properties" xmlns:ns2="5436247b-871b-45d3-adc3-f6c0f6d71200" targetNamespace="http://schemas.microsoft.com/office/2006/metadata/properties" ma:root="true" ma:fieldsID="1f5f5d7707489f66a280248c544df69c" ns2:_="">
    <xsd:import namespace="5436247b-871b-45d3-adc3-f6c0f6d71200"/>
    <xsd:element name="properties">
      <xsd:complexType>
        <xsd:sequence>
          <xsd:element name="documentManagement">
            <xsd:complexType>
              <xsd:all>
                <xsd:element ref="ns2:Reference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36247b-871b-45d3-adc3-f6c0f6d71200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5436247b-871b-45d3-adc3-f6c0f6d71200" xsi:nil="true"/>
  </documentManagement>
</p:properties>
</file>

<file path=customXml/itemProps1.xml><?xml version="1.0" encoding="utf-8"?>
<ds:datastoreItem xmlns:ds="http://schemas.openxmlformats.org/officeDocument/2006/customXml" ds:itemID="{3640B1BE-4E25-4097-8B9A-7F110AD4C91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0D354B2-BC4F-4330-B5B5-A2F2F65DC5E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436247b-871b-45d3-adc3-f6c0f6d7120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E58F92E-CECE-4136-8089-8229A358083E}">
  <ds:schemaRefs>
    <ds:schemaRef ds:uri="http://schemas.microsoft.com/office/2006/metadata/properties"/>
    <ds:schemaRef ds:uri="http://schemas.microsoft.com/office/infopath/2007/PartnerControls"/>
    <ds:schemaRef ds:uri="5436247b-871b-45d3-adc3-f6c0f6d71200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1662</TotalTime>
  <Words>954</Words>
  <Application>Microsoft Office PowerPoint</Application>
  <PresentationFormat>Personalizar</PresentationFormat>
  <Paragraphs>30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Arial Black</vt:lpstr>
      <vt:lpstr>Calibri</vt:lpstr>
      <vt:lpstr>Calibri Light</vt:lpstr>
      <vt:lpstr>Times New Roman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Leandro Pedroza</dc:creator>
  <cp:lastModifiedBy>vinicius fernandes</cp:lastModifiedBy>
  <cp:revision>54</cp:revision>
  <cp:lastPrinted>2023-05-23T23:18:43Z</cp:lastPrinted>
  <dcterms:created xsi:type="dcterms:W3CDTF">2018-10-09T21:24:59Z</dcterms:created>
  <dcterms:modified xsi:type="dcterms:W3CDTF">2025-11-25T23:00:24Z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0x010100E14B8C388CB6DD44A360E8CAEA0AE064</vt:lpwstr>
  </property>
</Properties>
</file>